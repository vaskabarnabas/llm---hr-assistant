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8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672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14173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11480" y="242316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</a:t>
            </a:r>
            <a:r>
              <a:rPr lang="en-US" sz="17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alapú</a:t>
            </a: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önéletrajz-anonimizálás és rangsorolás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3017520"/>
            <a:ext cx="4114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11480" y="32004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Önálló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Laboratórium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Vaska Barnabás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az, amit készítettem?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338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 – Önálló Laboratórium  |  2 / 13</a:t>
            </a:r>
            <a:endParaRPr lang="en-US" sz="900" dirty="0"/>
          </a:p>
        </p:txBody>
      </p: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1F9F1E17-5E22-A018-BAD6-0C0906BA64F4}"/>
              </a:ext>
            </a:extLst>
          </p:cNvPr>
          <p:cNvGrpSpPr/>
          <p:nvPr/>
        </p:nvGrpSpPr>
        <p:grpSpPr>
          <a:xfrm>
            <a:off x="320040" y="1261872"/>
            <a:ext cx="8503920" cy="1005840"/>
            <a:chOff x="320040" y="1261872"/>
            <a:chExt cx="8503920" cy="1005840"/>
          </a:xfrm>
        </p:grpSpPr>
        <p:sp>
          <p:nvSpPr>
            <p:cNvPr id="6" name="Shape 4"/>
            <p:cNvSpPr/>
            <p:nvPr/>
          </p:nvSpPr>
          <p:spPr>
            <a:xfrm>
              <a:off x="320040" y="1261872"/>
              <a:ext cx="8503920" cy="1005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7" name="Shape 5"/>
            <p:cNvSpPr/>
            <p:nvPr/>
          </p:nvSpPr>
          <p:spPr>
            <a:xfrm>
              <a:off x="320040" y="1261872"/>
              <a:ext cx="54864" cy="100584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8" name="Text 6"/>
            <p:cNvSpPr/>
            <p:nvPr/>
          </p:nvSpPr>
          <p:spPr>
            <a:xfrm>
              <a:off x="502920" y="1353312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2563E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Mit készítettem?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1609344"/>
              <a:ext cx="80924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Egy teljes stack webalkalmazást fejlesztettem, amely LangGraph-alapú, önellenőrző LLM-ágensekkel automatikusan anonimizálja az önéletrajzokat, majd RAG-technológiával rangsorolja a jelölteket az álláshirdetés </a:t>
              </a:r>
              <a:r>
                <a:rPr lang="en-US" sz="125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követelményei</a:t>
              </a: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5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alapján</a:t>
              </a: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25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Next.js</a:t>
              </a: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frontend és FastAPI backend segítségével.</a:t>
              </a:r>
              <a:endParaRPr lang="en-US" sz="1250" dirty="0"/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722013E8-E2B9-BDD4-98F2-9D950EFB906E}"/>
              </a:ext>
            </a:extLst>
          </p:cNvPr>
          <p:cNvGrpSpPr/>
          <p:nvPr/>
        </p:nvGrpSpPr>
        <p:grpSpPr>
          <a:xfrm>
            <a:off x="320040" y="2414016"/>
            <a:ext cx="8503920" cy="1005840"/>
            <a:chOff x="320040" y="2414016"/>
            <a:chExt cx="8503920" cy="1005840"/>
          </a:xfrm>
        </p:grpSpPr>
        <p:sp>
          <p:nvSpPr>
            <p:cNvPr id="10" name="Shape 8"/>
            <p:cNvSpPr/>
            <p:nvPr/>
          </p:nvSpPr>
          <p:spPr>
            <a:xfrm>
              <a:off x="320040" y="2414016"/>
              <a:ext cx="8503920" cy="1005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Shape 9"/>
            <p:cNvSpPr/>
            <p:nvPr/>
          </p:nvSpPr>
          <p:spPr>
            <a:xfrm>
              <a:off x="320040" y="2414016"/>
              <a:ext cx="54864" cy="1005840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Text 10"/>
            <p:cNvSpPr/>
            <p:nvPr/>
          </p:nvSpPr>
          <p:spPr>
            <a:xfrm>
              <a:off x="502920" y="2505456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Vagyis?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02920" y="2761488"/>
              <a:ext cx="80924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Egy olyan HR-platformot hoztam létre, amelynek köszönhetően a toborzók nem látják a jelöltek nevét, nemét és személyes adatait az értékelés során, így csökken az emberekben rejlő tudattalan torzítás (unconscious bias) hatása a felvételi döntésekben.</a:t>
              </a:r>
              <a:endParaRPr lang="en-US" sz="1250" dirty="0"/>
            </a:p>
          </p:txBody>
        </p:sp>
      </p:grp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59885145-E759-8FA0-35F1-B159A526DFAE}"/>
              </a:ext>
            </a:extLst>
          </p:cNvPr>
          <p:cNvGrpSpPr/>
          <p:nvPr/>
        </p:nvGrpSpPr>
        <p:grpSpPr>
          <a:xfrm>
            <a:off x="320040" y="3566160"/>
            <a:ext cx="8503920" cy="1005840"/>
            <a:chOff x="320040" y="3566160"/>
            <a:chExt cx="8503920" cy="1005840"/>
          </a:xfrm>
        </p:grpSpPr>
        <p:sp>
          <p:nvSpPr>
            <p:cNvPr id="14" name="Shape 12"/>
            <p:cNvSpPr/>
            <p:nvPr/>
          </p:nvSpPr>
          <p:spPr>
            <a:xfrm>
              <a:off x="320040" y="3566160"/>
              <a:ext cx="8503920" cy="1005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20040" y="3566160"/>
              <a:ext cx="54864" cy="1005840"/>
            </a:xfrm>
            <a:prstGeom prst="rect">
              <a:avLst/>
            </a:prstGeom>
            <a:solidFill>
              <a:srgbClr val="EA580C"/>
            </a:solidFill>
            <a:ln w="12700">
              <a:solidFill>
                <a:srgbClr val="EA580C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Text 14"/>
            <p:cNvSpPr/>
            <p:nvPr/>
          </p:nvSpPr>
          <p:spPr>
            <a:xfrm>
              <a:off x="502920" y="3657600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00" dirty="0">
                  <a:solidFill>
                    <a:srgbClr val="EA58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Például?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02920" y="3913632"/>
              <a:ext cx="80924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 egy cég fejlesztőket keres, az alkalmazásom automatikusan feldolgozza a beérkező PDF önéletrajzokat, eltávolítja az összes személyazonosításra alkalmas adatot, majd pontozva, indoklással ellátva sorba rendezi a </a:t>
              </a:r>
              <a:r>
                <a:rPr lang="en-US" sz="125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jelölteket</a:t>
              </a: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A HR-es kizárólag a szakmai tartalmat látja.</a:t>
              </a:r>
              <a:endParaRPr lang="en-US" sz="12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probléma, amelyet megoldottam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volt szükség erre az alkalmazásra?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 – Önálló Laboratórium  |  3 / 13</a:t>
            </a:r>
            <a:endParaRPr lang="en-US" sz="900" dirty="0"/>
          </a:p>
        </p:txBody>
      </p: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132556C2-EFE1-13BA-241A-81B8013FF571}"/>
              </a:ext>
            </a:extLst>
          </p:cNvPr>
          <p:cNvGrpSpPr/>
          <p:nvPr/>
        </p:nvGrpSpPr>
        <p:grpSpPr>
          <a:xfrm>
            <a:off x="320040" y="1298448"/>
            <a:ext cx="2743200" cy="3291840"/>
            <a:chOff x="320040" y="1298448"/>
            <a:chExt cx="2743200" cy="3291840"/>
          </a:xfrm>
        </p:grpSpPr>
        <p:sp>
          <p:nvSpPr>
            <p:cNvPr id="7" name="Shape 5"/>
            <p:cNvSpPr/>
            <p:nvPr/>
          </p:nvSpPr>
          <p:spPr>
            <a:xfrm>
              <a:off x="320040" y="1298448"/>
              <a:ext cx="2743200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8" name="Shape 6"/>
            <p:cNvSpPr/>
            <p:nvPr/>
          </p:nvSpPr>
          <p:spPr>
            <a:xfrm>
              <a:off x="320040" y="1298448"/>
              <a:ext cx="54864" cy="329184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1426464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Adminisztrációs teher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02920" y="1865376"/>
              <a:ext cx="242316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HR-esekre háruló nagy mennyiségű beérkező önéletrajz miatt az előszűrés felületes, és sok értékes jelölt elvész a folyamatban.</a:t>
              </a:r>
              <a:endParaRPr lang="en-US" sz="1300" dirty="0"/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5FFD006E-5BF9-A3B3-8F73-B11C8EBAD5CA}"/>
              </a:ext>
            </a:extLst>
          </p:cNvPr>
          <p:cNvGrpSpPr/>
          <p:nvPr/>
        </p:nvGrpSpPr>
        <p:grpSpPr>
          <a:xfrm>
            <a:off x="3218688" y="1298448"/>
            <a:ext cx="2743200" cy="3291840"/>
            <a:chOff x="3218688" y="1298448"/>
            <a:chExt cx="2743200" cy="3291840"/>
          </a:xfrm>
        </p:grpSpPr>
        <p:sp>
          <p:nvSpPr>
            <p:cNvPr id="11" name="Shape 9"/>
            <p:cNvSpPr/>
            <p:nvPr/>
          </p:nvSpPr>
          <p:spPr>
            <a:xfrm>
              <a:off x="3218688" y="1298448"/>
              <a:ext cx="2743200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18688" y="1298448"/>
              <a:ext cx="54864" cy="329184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Text 11"/>
            <p:cNvSpPr/>
            <p:nvPr/>
          </p:nvSpPr>
          <p:spPr>
            <a:xfrm>
              <a:off x="3401568" y="1426464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Tudattalan torzítás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01568" y="1865376"/>
              <a:ext cx="242316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nevek, nemre utaló kifejezések és személyes adatok akaratlanul is befolyásolják </a:t>
              </a:r>
              <a:r>
                <a:rPr lang="en-US" sz="13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az</a:t>
              </a:r>
              <a:r>
                <a:rPr lang="en-US" sz="13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értékelést</a:t>
              </a:r>
              <a:r>
                <a:rPr lang="en-US" sz="13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hátrányos megkülönböztetést okozhat.</a:t>
              </a:r>
              <a:endParaRPr lang="en-US" sz="1300" dirty="0"/>
            </a:p>
          </p:txBody>
        </p:sp>
      </p:grp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462AEDEE-99E5-78CB-EB81-89317BCEF6B8}"/>
              </a:ext>
            </a:extLst>
          </p:cNvPr>
          <p:cNvGrpSpPr/>
          <p:nvPr/>
        </p:nvGrpSpPr>
        <p:grpSpPr>
          <a:xfrm>
            <a:off x="6117336" y="1298448"/>
            <a:ext cx="2743200" cy="3291840"/>
            <a:chOff x="6117336" y="1298448"/>
            <a:chExt cx="2743200" cy="3291840"/>
          </a:xfrm>
        </p:grpSpPr>
        <p:sp>
          <p:nvSpPr>
            <p:cNvPr id="15" name="Shape 13"/>
            <p:cNvSpPr/>
            <p:nvPr/>
          </p:nvSpPr>
          <p:spPr>
            <a:xfrm>
              <a:off x="6117336" y="1298448"/>
              <a:ext cx="2743200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117336" y="1298448"/>
              <a:ext cx="54864" cy="329184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Text 15"/>
            <p:cNvSpPr/>
            <p:nvPr/>
          </p:nvSpPr>
          <p:spPr>
            <a:xfrm>
              <a:off x="6300216" y="1426464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Merev kulcsszűrők</a:t>
              </a:r>
              <a:endParaRPr lang="en-US" sz="14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300216" y="1865376"/>
              <a:ext cx="242316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jelenlegi kulcsszó-alapú megoldások rugalmatlanok, nem értik a szöveg kontextusát és semmit sem tesznek az implicit bias ellen.</a:t>
              </a:r>
              <a:endParaRPr lang="en-US" sz="13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félév feladata és elvégzett munka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338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 – Önálló Laboratórium  |  4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  <a:buSzPct val="100000"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2498" y="1261872"/>
            <a:ext cx="845146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72498" y="1261872"/>
            <a:ext cx="54864" cy="3383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603315" y="1371600"/>
            <a:ext cx="80377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Ebben a félévben megvalósítottam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315" y="1682496"/>
            <a:ext cx="803776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specializált LLM-ágens az anonimizáláshoz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önellenőrző pipeline-nal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4 végponttal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frontend Supabase Auth-tal (HR / Jelölt)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Cohere embedding alapú RAG rangsorolás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unit teszt + RAGAS minőségmérő metrikák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320040" y="48920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Kiemelkedő funkciók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 – Önálló Laboratórium  |  5 / 13</a:t>
            </a:r>
            <a:endParaRPr lang="en-US" sz="900" dirty="0"/>
          </a:p>
        </p:txBody>
      </p:sp>
      <p:grpSp>
        <p:nvGrpSpPr>
          <p:cNvPr id="23" name="Csoportba foglalás 22">
            <a:extLst>
              <a:ext uri="{FF2B5EF4-FFF2-40B4-BE49-F238E27FC236}">
                <a16:creationId xmlns:a16="http://schemas.microsoft.com/office/drawing/2014/main" id="{185F6777-A60A-C03D-BF45-03C4FB58AFDD}"/>
              </a:ext>
            </a:extLst>
          </p:cNvPr>
          <p:cNvGrpSpPr/>
          <p:nvPr/>
        </p:nvGrpSpPr>
        <p:grpSpPr>
          <a:xfrm>
            <a:off x="320040" y="1261872"/>
            <a:ext cx="4206240" cy="1627632"/>
            <a:chOff x="320040" y="1261872"/>
            <a:chExt cx="4206240" cy="1627632"/>
          </a:xfrm>
        </p:grpSpPr>
        <p:sp>
          <p:nvSpPr>
            <p:cNvPr id="7" name="Shape 5"/>
            <p:cNvSpPr/>
            <p:nvPr/>
          </p:nvSpPr>
          <p:spPr>
            <a:xfrm>
              <a:off x="320040" y="1261872"/>
              <a:ext cx="4206240" cy="16276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8" name="Shape 6"/>
            <p:cNvSpPr/>
            <p:nvPr/>
          </p:nvSpPr>
          <p:spPr>
            <a:xfrm>
              <a:off x="320040" y="1261872"/>
              <a:ext cx="54864" cy="162763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1389888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 err="1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Anonimizálás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02920" y="1719072"/>
              <a:ext cx="3840480" cy="1078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Az 5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ágens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egy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pipelineba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szervezetten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anonimizálja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az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önéletrajzből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kinyert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adatot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ügyelve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hogy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az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ágens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cask a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saját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feladatát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végezze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el.</a:t>
              </a:r>
              <a:endParaRPr lang="en-US" sz="1150" dirty="0"/>
            </a:p>
          </p:txBody>
        </p:sp>
      </p:grpSp>
      <p:grpSp>
        <p:nvGrpSpPr>
          <p:cNvPr id="24" name="Csoportba foglalás 23">
            <a:extLst>
              <a:ext uri="{FF2B5EF4-FFF2-40B4-BE49-F238E27FC236}">
                <a16:creationId xmlns:a16="http://schemas.microsoft.com/office/drawing/2014/main" id="{68C874C1-0065-DF87-DE60-4210A17825D9}"/>
              </a:ext>
            </a:extLst>
          </p:cNvPr>
          <p:cNvGrpSpPr/>
          <p:nvPr/>
        </p:nvGrpSpPr>
        <p:grpSpPr>
          <a:xfrm>
            <a:off x="4754880" y="1261872"/>
            <a:ext cx="4206240" cy="1627632"/>
            <a:chOff x="4754880" y="1261872"/>
            <a:chExt cx="4206240" cy="1627632"/>
          </a:xfrm>
        </p:grpSpPr>
        <p:sp>
          <p:nvSpPr>
            <p:cNvPr id="11" name="Shape 9"/>
            <p:cNvSpPr/>
            <p:nvPr/>
          </p:nvSpPr>
          <p:spPr>
            <a:xfrm>
              <a:off x="4754880" y="1261872"/>
              <a:ext cx="4206240" cy="16276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754880" y="1261872"/>
              <a:ext cx="54864" cy="162763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3" name="Text 11"/>
            <p:cNvSpPr/>
            <p:nvPr/>
          </p:nvSpPr>
          <p:spPr>
            <a:xfrm>
              <a:off x="4937760" y="1389888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Szerepkör-alapú hozzáférés</a:t>
              </a:r>
              <a:endParaRPr lang="en-US" sz="13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937760" y="1719072"/>
              <a:ext cx="3840480" cy="1078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HR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és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jelentlező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szerepkört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valósítottam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meg. HR-es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álláshirdetést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tehet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közzé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és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rangsorolhatja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jelentkezőket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a jelentkező önéletrajz feltöltésével jelentkezhet állásra.</a:t>
              </a:r>
              <a:endParaRPr lang="en-US" sz="1150" dirty="0"/>
            </a:p>
          </p:txBody>
        </p:sp>
      </p:grpSp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B1ABDC40-9CEC-81A6-FCDB-3BDC7CB66EA4}"/>
              </a:ext>
            </a:extLst>
          </p:cNvPr>
          <p:cNvGrpSpPr/>
          <p:nvPr/>
        </p:nvGrpSpPr>
        <p:grpSpPr>
          <a:xfrm>
            <a:off x="320040" y="3072384"/>
            <a:ext cx="4206240" cy="1627632"/>
            <a:chOff x="320040" y="3072384"/>
            <a:chExt cx="4206240" cy="1627632"/>
          </a:xfrm>
        </p:grpSpPr>
        <p:sp>
          <p:nvSpPr>
            <p:cNvPr id="15" name="Shape 13"/>
            <p:cNvSpPr/>
            <p:nvPr/>
          </p:nvSpPr>
          <p:spPr>
            <a:xfrm>
              <a:off x="320040" y="3072384"/>
              <a:ext cx="4206240" cy="16276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3072384"/>
              <a:ext cx="54864" cy="162763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Text 15"/>
            <p:cNvSpPr/>
            <p:nvPr/>
          </p:nvSpPr>
          <p:spPr>
            <a:xfrm>
              <a:off x="502920" y="3200400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RAG-alapú rangsorolás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02920" y="3529584"/>
              <a:ext cx="3840480" cy="1078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ChromaDB-ből visszakeresett CV-ket egy LLM az álláshirdetés 5 kulcskövetelménye alapján pontozza és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indokolja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checkbox-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listával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ezzel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létrejön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egy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50" dirty="0" err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rangsorolás</a:t>
              </a:r>
              <a:r>
                <a:rPr lang="en-US" sz="115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150" dirty="0"/>
            </a:p>
          </p:txBody>
        </p:sp>
      </p:grp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CA3DA91E-6F27-D5F8-0435-51D7B1A714DD}"/>
              </a:ext>
            </a:extLst>
          </p:cNvPr>
          <p:cNvGrpSpPr/>
          <p:nvPr/>
        </p:nvGrpSpPr>
        <p:grpSpPr>
          <a:xfrm>
            <a:off x="4754880" y="3072384"/>
            <a:ext cx="4206240" cy="1627632"/>
            <a:chOff x="4754880" y="3072384"/>
            <a:chExt cx="4206240" cy="1627632"/>
          </a:xfrm>
        </p:grpSpPr>
        <p:sp>
          <p:nvSpPr>
            <p:cNvPr id="19" name="Shape 17"/>
            <p:cNvSpPr/>
            <p:nvPr/>
          </p:nvSpPr>
          <p:spPr>
            <a:xfrm>
              <a:off x="4754880" y="3072384"/>
              <a:ext cx="4206240" cy="16276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54880" y="3072384"/>
              <a:ext cx="54864" cy="162763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1" name="Text 19"/>
            <p:cNvSpPr/>
            <p:nvPr/>
          </p:nvSpPr>
          <p:spPr>
            <a:xfrm>
              <a:off x="4937760" y="3200400"/>
              <a:ext cx="3840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 err="1">
                  <a:solidFill>
                    <a:srgbClr val="0F172A"/>
                  </a:solidFill>
                  <a:latin typeface="Calibri" pitchFamily="34" charset="0"/>
                  <a:cs typeface="Calibri" pitchFamily="34" charset="-120"/>
                </a:rPr>
                <a:t>Önellenőrzés</a:t>
              </a:r>
              <a:endParaRPr lang="en-US" sz="13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937760" y="3529584"/>
              <a:ext cx="3840480" cy="10789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dirty="0"/>
                <a:t>An </a:t>
              </a:r>
              <a:r>
                <a:rPr lang="en-US" sz="1150" dirty="0" err="1"/>
                <a:t>anonimizáló</a:t>
              </a:r>
              <a:r>
                <a:rPr lang="en-US" sz="1150" dirty="0"/>
                <a:t> </a:t>
              </a:r>
              <a:r>
                <a:rPr lang="en-US" sz="1150" dirty="0" err="1"/>
                <a:t>pipelineba</a:t>
              </a:r>
              <a:r>
                <a:rPr lang="en-US" sz="1150" dirty="0"/>
                <a:t> </a:t>
              </a:r>
              <a:r>
                <a:rPr lang="en-US" sz="1150" dirty="0" err="1"/>
                <a:t>beépített</a:t>
              </a:r>
              <a:r>
                <a:rPr lang="en-US" sz="1150" dirty="0"/>
                <a:t> </a:t>
              </a:r>
              <a:r>
                <a:rPr lang="en-US" sz="1150" dirty="0" err="1"/>
                <a:t>önellenőrzést</a:t>
              </a:r>
              <a:r>
                <a:rPr lang="en-US" sz="1150" dirty="0"/>
                <a:t> </a:t>
              </a:r>
              <a:r>
                <a:rPr lang="en-US" sz="1150" dirty="0" err="1"/>
                <a:t>valósítottam</a:t>
              </a:r>
              <a:r>
                <a:rPr lang="en-US" sz="1150" dirty="0"/>
                <a:t> meg, </a:t>
              </a:r>
              <a:r>
                <a:rPr lang="en-US" sz="1150" dirty="0" err="1"/>
                <a:t>ami</a:t>
              </a:r>
              <a:r>
                <a:rPr lang="en-US" sz="1150" dirty="0"/>
                <a:t> </a:t>
              </a:r>
              <a:r>
                <a:rPr lang="en-US" sz="1150" dirty="0" err="1"/>
                <a:t>arra</a:t>
              </a:r>
              <a:r>
                <a:rPr lang="en-US" sz="1150" dirty="0"/>
                <a:t> </a:t>
              </a:r>
              <a:r>
                <a:rPr lang="en-US" sz="1150" dirty="0" err="1"/>
                <a:t>szolgál</a:t>
              </a:r>
              <a:r>
                <a:rPr lang="en-US" sz="1150" dirty="0"/>
                <a:t>, </a:t>
              </a:r>
              <a:r>
                <a:rPr lang="en-US" sz="1150" dirty="0" err="1"/>
                <a:t>hogy</a:t>
              </a:r>
              <a:r>
                <a:rPr lang="en-US" sz="1150" dirty="0"/>
                <a:t> ne </a:t>
              </a:r>
              <a:r>
                <a:rPr lang="en-US" sz="1150" dirty="0" err="1"/>
                <a:t>maradjon</a:t>
              </a:r>
              <a:r>
                <a:rPr lang="en-US" sz="1150" dirty="0"/>
                <a:t> </a:t>
              </a:r>
              <a:r>
                <a:rPr lang="en-US" sz="1150" dirty="0" err="1"/>
                <a:t>személyes</a:t>
              </a:r>
              <a:r>
                <a:rPr lang="en-US" sz="1150" dirty="0"/>
                <a:t> </a:t>
              </a:r>
              <a:r>
                <a:rPr lang="en-US" sz="1150" dirty="0" err="1"/>
                <a:t>adat</a:t>
              </a:r>
              <a:r>
                <a:rPr lang="en-US" sz="1150" dirty="0"/>
                <a:t> </a:t>
              </a:r>
              <a:r>
                <a:rPr lang="en-US" sz="1150" dirty="0" err="1"/>
                <a:t>az</a:t>
              </a:r>
              <a:r>
                <a:rPr lang="en-US" sz="1150" dirty="0"/>
                <a:t> </a:t>
              </a:r>
              <a:r>
                <a:rPr lang="en-US" sz="1150" dirty="0" err="1"/>
                <a:t>önéletrajzokban</a:t>
              </a:r>
              <a:r>
                <a:rPr lang="en-US" sz="1150" dirty="0"/>
                <a:t>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Funkciók, amelyekkel legalább 30 percet töltöttem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338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 – Önálló Laboratórium  |  6 / 13</a:t>
            </a:r>
            <a:endParaRPr lang="en-US" sz="900" dirty="0"/>
          </a:p>
        </p:txBody>
      </p: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94709082-72CD-589E-CF16-436B55A82DC4}"/>
              </a:ext>
            </a:extLst>
          </p:cNvPr>
          <p:cNvGrpSpPr/>
          <p:nvPr/>
        </p:nvGrpSpPr>
        <p:grpSpPr>
          <a:xfrm>
            <a:off x="320040" y="1261872"/>
            <a:ext cx="4160520" cy="3429000"/>
            <a:chOff x="320040" y="1261872"/>
            <a:chExt cx="4160520" cy="3429000"/>
          </a:xfrm>
        </p:grpSpPr>
        <p:sp>
          <p:nvSpPr>
            <p:cNvPr id="6" name="Shape 4"/>
            <p:cNvSpPr/>
            <p:nvPr/>
          </p:nvSpPr>
          <p:spPr>
            <a:xfrm>
              <a:off x="320040" y="1261872"/>
              <a:ext cx="4160520" cy="3429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38912" y="13898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buSzPct val="100000"/>
              </a:pPr>
              <a:endParaRPr lang="en-US" sz="11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38912" y="159931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Gemini API integráció, API-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kulcs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kezelés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</a:p>
            <a:p>
              <a:pPr>
                <a:buSzPct val="100000"/>
              </a:pPr>
              <a:endPara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buSzPct val="100000"/>
                <a:buFontTx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specializált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anonimizáló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LLM-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ágens</a:t>
              </a:r>
              <a:endParaRPr lang="en-US" sz="11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38912" y="20756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Prompt engineering (Zero-shot, Few-shot, CoT)</a:t>
              </a:r>
              <a:endParaRPr lang="en-US" sz="1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38912" y="24185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LangChain → LangGraph migráció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38912" y="27614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PDF szöveg kinyerése (pypdf + 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PyMuPDF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38912" y="31043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ChromaDB Docker-konténer, perzisztens volume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38912" y="34472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Cohere multilingual embedding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38912" y="37901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Duplikátumszűrő az önéletrajz-adatbázisban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38912" y="41330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FastAPI backend (/analyze, /store-cv, /query, /rank)</a:t>
              </a:r>
              <a:endParaRPr lang="en-US" sz="1100" dirty="0"/>
            </a:p>
          </p:txBody>
        </p:sp>
      </p:grpSp>
      <p:grpSp>
        <p:nvGrpSpPr>
          <p:cNvPr id="27" name="Csoportba foglalás 26">
            <a:extLst>
              <a:ext uri="{FF2B5EF4-FFF2-40B4-BE49-F238E27FC236}">
                <a16:creationId xmlns:a16="http://schemas.microsoft.com/office/drawing/2014/main" id="{22DF3EBB-2A0A-8012-341A-D6451CA10A9D}"/>
              </a:ext>
            </a:extLst>
          </p:cNvPr>
          <p:cNvGrpSpPr/>
          <p:nvPr/>
        </p:nvGrpSpPr>
        <p:grpSpPr>
          <a:xfrm>
            <a:off x="4663440" y="1261872"/>
            <a:ext cx="4160520" cy="3429000"/>
            <a:chOff x="4663440" y="1261872"/>
            <a:chExt cx="4160520" cy="3429000"/>
          </a:xfrm>
        </p:grpSpPr>
        <p:sp>
          <p:nvSpPr>
            <p:cNvPr id="7" name="Shape 5"/>
            <p:cNvSpPr/>
            <p:nvPr/>
          </p:nvSpPr>
          <p:spPr>
            <a:xfrm>
              <a:off x="4663440" y="1261872"/>
              <a:ext cx="4160520" cy="3429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773168" y="13898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buSzPct val="100000"/>
              </a:pP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773168" y="159931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LangGraph StateGraph 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önellenőrző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pipeline</a:t>
              </a:r>
            </a:p>
            <a:p>
              <a:pPr marL="342900" indent="-342900">
                <a:buSzPct val="100000"/>
                <a:buChar char="•"/>
              </a:pPr>
              <a:endPara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endParaRPr>
            </a:p>
            <a:p>
              <a:pPr marL="342900" indent="-342900">
                <a:buSzPct val="100000"/>
                <a:buChar char="•"/>
              </a:pP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Supabase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Auth (HR / 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Jelölt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773168" y="20756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Validáció + max. 3× automatikus újrapróbálkozás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773168" y="24185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Gyors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letisztult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1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felhasználóbarát</a:t>
              </a: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frontend</a:t>
              </a:r>
              <a:endParaRPr lang="en-US" sz="11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773168" y="27614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Álláshirdetés-kezelés (létrehozás, törlés, részletes nézet)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773168" y="31043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RAG rangsorolás + követelmény-checkbox lista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773168" y="34472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Animált progress bar a CV-feldolgozáshoz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773168" y="37901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 unit teszt az anonimizáláshoz (pytest)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773168" y="4133088"/>
              <a:ext cx="39319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1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RAGAS metrikák (Faithfulness, ContextRelevance)</a:t>
              </a:r>
              <a:endParaRPr lang="en-US" sz="11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Választott technológiák – és miért ezeket?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338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 – Önálló Laboratórium  |  7 / 13</a:t>
            </a:r>
            <a:endParaRPr lang="en-US" sz="900" dirty="0"/>
          </a:p>
        </p:txBody>
      </p: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A0502FD5-7174-1597-B51F-AECC9359F93F}"/>
              </a:ext>
            </a:extLst>
          </p:cNvPr>
          <p:cNvGrpSpPr/>
          <p:nvPr/>
        </p:nvGrpSpPr>
        <p:grpSpPr>
          <a:xfrm>
            <a:off x="320040" y="1261872"/>
            <a:ext cx="2788920" cy="1600200"/>
            <a:chOff x="320040" y="1261872"/>
            <a:chExt cx="2788920" cy="1600200"/>
          </a:xfrm>
        </p:grpSpPr>
        <p:sp>
          <p:nvSpPr>
            <p:cNvPr id="6" name="Shape 4"/>
            <p:cNvSpPr/>
            <p:nvPr/>
          </p:nvSpPr>
          <p:spPr>
            <a:xfrm>
              <a:off x="320040" y="1261872"/>
              <a:ext cx="2788920" cy="160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7" name="Shape 5"/>
            <p:cNvSpPr/>
            <p:nvPr/>
          </p:nvSpPr>
          <p:spPr>
            <a:xfrm>
              <a:off x="320040" y="1261872"/>
              <a:ext cx="54864" cy="16002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8" name="Text 6"/>
            <p:cNvSpPr/>
            <p:nvPr/>
          </p:nvSpPr>
          <p:spPr>
            <a:xfrm>
              <a:off x="502920" y="137160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LangGraph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" y="1700784"/>
              <a:ext cx="246888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Az ágensek közötti vezérlési folyamat, az elágazások és az újrapróbálkozási logika 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grafikusan</a:t>
              </a: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modellezhetők</a:t>
              </a:r>
              <a:endParaRPr lang="en-US" sz="1050" dirty="0"/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4D115B89-B0F7-3D17-26B7-6E26575193CB}"/>
              </a:ext>
            </a:extLst>
          </p:cNvPr>
          <p:cNvGrpSpPr/>
          <p:nvPr/>
        </p:nvGrpSpPr>
        <p:grpSpPr>
          <a:xfrm>
            <a:off x="3264408" y="1261872"/>
            <a:ext cx="2788920" cy="1600200"/>
            <a:chOff x="3264408" y="1261872"/>
            <a:chExt cx="2788920" cy="1600200"/>
          </a:xfrm>
        </p:grpSpPr>
        <p:sp>
          <p:nvSpPr>
            <p:cNvPr id="10" name="Shape 8"/>
            <p:cNvSpPr/>
            <p:nvPr/>
          </p:nvSpPr>
          <p:spPr>
            <a:xfrm>
              <a:off x="3264408" y="1261872"/>
              <a:ext cx="2788920" cy="160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11" name="Shape 9"/>
            <p:cNvSpPr/>
            <p:nvPr/>
          </p:nvSpPr>
          <p:spPr>
            <a:xfrm>
              <a:off x="3264408" y="1261872"/>
              <a:ext cx="54864" cy="16002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2" name="Text 10"/>
            <p:cNvSpPr/>
            <p:nvPr/>
          </p:nvSpPr>
          <p:spPr>
            <a:xfrm>
              <a:off x="3447288" y="137160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Gemma4 (lokális LLM)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47288" y="1700784"/>
              <a:ext cx="246888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Dockerben futtatva nincs napi API-limit, és az adatok nem hagyják el a 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helyi</a:t>
              </a: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gépet</a:t>
              </a: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privacy-first megközelítés.</a:t>
              </a:r>
              <a:endParaRPr lang="en-US" sz="1050" dirty="0"/>
            </a:p>
          </p:txBody>
        </p:sp>
      </p:grpSp>
      <p:grpSp>
        <p:nvGrpSpPr>
          <p:cNvPr id="32" name="Csoportba foglalás 31">
            <a:extLst>
              <a:ext uri="{FF2B5EF4-FFF2-40B4-BE49-F238E27FC236}">
                <a16:creationId xmlns:a16="http://schemas.microsoft.com/office/drawing/2014/main" id="{35872A6B-0841-8244-B531-256253B33BDE}"/>
              </a:ext>
            </a:extLst>
          </p:cNvPr>
          <p:cNvGrpSpPr/>
          <p:nvPr/>
        </p:nvGrpSpPr>
        <p:grpSpPr>
          <a:xfrm>
            <a:off x="6208776" y="1261872"/>
            <a:ext cx="2788920" cy="1600200"/>
            <a:chOff x="6208776" y="1261872"/>
            <a:chExt cx="2788920" cy="1600200"/>
          </a:xfrm>
        </p:grpSpPr>
        <p:sp>
          <p:nvSpPr>
            <p:cNvPr id="14" name="Shape 12"/>
            <p:cNvSpPr/>
            <p:nvPr/>
          </p:nvSpPr>
          <p:spPr>
            <a:xfrm>
              <a:off x="6208776" y="1261872"/>
              <a:ext cx="2788920" cy="160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15" name="Shape 13"/>
            <p:cNvSpPr/>
            <p:nvPr/>
          </p:nvSpPr>
          <p:spPr>
            <a:xfrm>
              <a:off x="6208776" y="1261872"/>
              <a:ext cx="54864" cy="16002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Text 14"/>
            <p:cNvSpPr/>
            <p:nvPr/>
          </p:nvSpPr>
          <p:spPr>
            <a:xfrm>
              <a:off x="6391656" y="137160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ChromaDB + Cohere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391656" y="1700784"/>
              <a:ext cx="246888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Könnyen futtatható 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vektoros</a:t>
              </a: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adatbázis</a:t>
              </a: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A Cohere multilingual modell magyar és angol önéletrajzokat egyaránt jól kezeli.</a:t>
              </a:r>
              <a:endParaRPr lang="en-US" sz="1050" dirty="0"/>
            </a:p>
          </p:txBody>
        </p:sp>
      </p:grp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28EBBB87-AF59-1A0C-84F8-89F988D26668}"/>
              </a:ext>
            </a:extLst>
          </p:cNvPr>
          <p:cNvGrpSpPr/>
          <p:nvPr/>
        </p:nvGrpSpPr>
        <p:grpSpPr>
          <a:xfrm>
            <a:off x="320040" y="2999232"/>
            <a:ext cx="2788920" cy="1600200"/>
            <a:chOff x="320040" y="2999232"/>
            <a:chExt cx="2788920" cy="1600200"/>
          </a:xfrm>
        </p:grpSpPr>
        <p:sp>
          <p:nvSpPr>
            <p:cNvPr id="18" name="Shape 16"/>
            <p:cNvSpPr/>
            <p:nvPr/>
          </p:nvSpPr>
          <p:spPr>
            <a:xfrm>
              <a:off x="320040" y="2999232"/>
              <a:ext cx="2788920" cy="160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19" name="Shape 17"/>
            <p:cNvSpPr/>
            <p:nvPr/>
          </p:nvSpPr>
          <p:spPr>
            <a:xfrm>
              <a:off x="320040" y="2999232"/>
              <a:ext cx="54864" cy="16002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0" name="Text 18"/>
            <p:cNvSpPr/>
            <p:nvPr/>
          </p:nvSpPr>
          <p:spPr>
            <a:xfrm>
              <a:off x="502920" y="310896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FastAPI</a:t>
              </a:r>
              <a:endParaRPr lang="en-US" sz="13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02920" y="3438144"/>
              <a:ext cx="246888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Async Python, automatikus OpenAPI dokumentáció, natív multipart fájl fogadással.</a:t>
              </a:r>
              <a:endParaRPr lang="en-US" sz="1050" dirty="0"/>
            </a:p>
          </p:txBody>
        </p:sp>
      </p:grpSp>
      <p:grpSp>
        <p:nvGrpSpPr>
          <p:cNvPr id="34" name="Csoportba foglalás 33">
            <a:extLst>
              <a:ext uri="{FF2B5EF4-FFF2-40B4-BE49-F238E27FC236}">
                <a16:creationId xmlns:a16="http://schemas.microsoft.com/office/drawing/2014/main" id="{BF077F46-B801-9CBE-3F99-E48E1032B0B8}"/>
              </a:ext>
            </a:extLst>
          </p:cNvPr>
          <p:cNvGrpSpPr/>
          <p:nvPr/>
        </p:nvGrpSpPr>
        <p:grpSpPr>
          <a:xfrm>
            <a:off x="3264408" y="2999232"/>
            <a:ext cx="2788920" cy="1600200"/>
            <a:chOff x="3264408" y="2999232"/>
            <a:chExt cx="2788920" cy="1600200"/>
          </a:xfrm>
        </p:grpSpPr>
        <p:sp>
          <p:nvSpPr>
            <p:cNvPr id="22" name="Shape 20"/>
            <p:cNvSpPr/>
            <p:nvPr/>
          </p:nvSpPr>
          <p:spPr>
            <a:xfrm>
              <a:off x="3264408" y="2999232"/>
              <a:ext cx="2788920" cy="160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/>
            </a:p>
          </p:txBody>
        </p:sp>
        <p:sp>
          <p:nvSpPr>
            <p:cNvPr id="23" name="Shape 21"/>
            <p:cNvSpPr/>
            <p:nvPr/>
          </p:nvSpPr>
          <p:spPr>
            <a:xfrm>
              <a:off x="3264408" y="2999232"/>
              <a:ext cx="54864" cy="16002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4" name="Text 22"/>
            <p:cNvSpPr/>
            <p:nvPr/>
          </p:nvSpPr>
          <p:spPr>
            <a:xfrm>
              <a:off x="3447288" y="310896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Next.js 14 + Supabase</a:t>
              </a:r>
              <a:endParaRPr lang="en-US" sz="13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447288" y="3438144"/>
              <a:ext cx="246888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Server Components, beépített Auth 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és</a:t>
              </a: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PostgreSQL, 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gyors</a:t>
              </a: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prototipizálás professzionális infrastruktúrán.</a:t>
              </a:r>
              <a:endParaRPr lang="en-US" sz="1050" dirty="0"/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D253690F-D317-35A7-18C8-49C9EB9B6866}"/>
              </a:ext>
            </a:extLst>
          </p:cNvPr>
          <p:cNvGrpSpPr/>
          <p:nvPr/>
        </p:nvGrpSpPr>
        <p:grpSpPr>
          <a:xfrm>
            <a:off x="6208776" y="2999232"/>
            <a:ext cx="2788920" cy="1600200"/>
            <a:chOff x="6208776" y="2999232"/>
            <a:chExt cx="2788920" cy="1600200"/>
          </a:xfrm>
        </p:grpSpPr>
        <p:sp>
          <p:nvSpPr>
            <p:cNvPr id="26" name="Shape 24"/>
            <p:cNvSpPr/>
            <p:nvPr/>
          </p:nvSpPr>
          <p:spPr>
            <a:xfrm>
              <a:off x="6208776" y="2999232"/>
              <a:ext cx="2788920" cy="1600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hu-HU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208776" y="2999232"/>
              <a:ext cx="54864" cy="160020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28" name="Text 26"/>
            <p:cNvSpPr/>
            <p:nvPr/>
          </p:nvSpPr>
          <p:spPr>
            <a:xfrm>
              <a:off x="6391656" y="3108960"/>
              <a:ext cx="2468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RAGAS</a:t>
              </a:r>
              <a:endParaRPr lang="en-US" sz="13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391656" y="3438144"/>
              <a:ext cx="246888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Számszerűen 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mérhető</a:t>
              </a: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RAG-</a:t>
              </a:r>
              <a:r>
                <a:rPr lang="en-US" sz="1050" dirty="0" err="1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minőség</a:t>
              </a:r>
              <a:r>
                <a:rPr lang="en-US" sz="1050" dirty="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 Faithfulness ellenőrzi a hallucináció hiányát, ContextRelevance a retrieval pontosságát.</a:t>
              </a:r>
              <a:endParaRPr lang="en-US" sz="10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Rendszerarchitektúra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Adatréteg · Kommunikációs útvonalak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 – Önálló Laboratórium  |  8 / 13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062" y="1234440"/>
            <a:ext cx="6359877" cy="3520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Kép 19" descr="A képen szöveg, képernyőkép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B4B29E7A-FB48-13AC-F4BE-096F48EB2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43" y="2134716"/>
            <a:ext cx="4180004" cy="223433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Megvalósítás – képernyőképek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rendszer működés közben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 – Önálló Laboratórium  |  10 / 13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6" name="Kép 15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753D263E-5B5A-41CB-659A-027272AE0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840" y="1213865"/>
            <a:ext cx="1964546" cy="2948940"/>
          </a:xfrm>
          <a:prstGeom prst="rect">
            <a:avLst/>
          </a:prstGeom>
        </p:spPr>
      </p:pic>
      <p:pic>
        <p:nvPicPr>
          <p:cNvPr id="18" name="Kép 17" descr="A képen szöveg, képernyőké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4577D0B-328D-12F5-F1FC-6252822232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620" y="875189"/>
            <a:ext cx="4698125" cy="2341219"/>
          </a:xfrm>
          <a:prstGeom prst="rect">
            <a:avLst/>
          </a:prstGeom>
        </p:spPr>
      </p:pic>
      <p:pic>
        <p:nvPicPr>
          <p:cNvPr id="22" name="Kép 21" descr="A képen szöveg, képernyőkép, szoftver, Webla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5FABDF5-6ECD-2DDC-9B45-77BEAC29F3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8135" y="2418927"/>
            <a:ext cx="3721100" cy="2260600"/>
          </a:xfrm>
          <a:prstGeom prst="rect">
            <a:avLst/>
          </a:prstGeom>
        </p:spPr>
      </p:pic>
      <p:pic>
        <p:nvPicPr>
          <p:cNvPr id="24" name="Kép 23" descr="A képen szöveg, képernyőkép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0233F57-C689-3818-9DA6-CBAAD1089B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2862" y="4255508"/>
            <a:ext cx="3571886" cy="6136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varázslat az alkalmazás mögött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Önellenőrzés és minőségmérés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33856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Assistant – Önálló Laboratórium  |  11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54864" cy="3429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Önellenőrző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CV-feldolgozás végén a validate_anonymization() függvény az adott önéletrajzban ténylegesen előforduló tiltott mintákat keresi az outputban (pl. 'stewardess', 'she', 'married', 'maternity leave'). Ha bármelyik megmarad, a teljes ötágenses pipeline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automatikusan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újraindul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legfeljebb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háromszor. Ha mindhárom kísérlet sikertelen, a rendszer 422-es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hibával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jelez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CV nem anonimizálható megbízhatóan, és a jelentkezés nem kerül mentésre.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261872"/>
            <a:ext cx="4251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4572000" y="1261872"/>
            <a:ext cx="54864" cy="3429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minőségmérés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682496"/>
            <a:ext cx="3886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RAG-alapú rangsoroló rendszer minőségét két RAGAS metrikával mértem számszerűen: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– azt ellenőrzi, hogy az LLM indoklása valóban az önéletrajzban szereplő tényeken alapul-e, nem pedig hallucinálja az érvelést.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ContextRelevance – azt méri, hogy a ChromaDB által visszakeresett CV-szöveg mondatainak mekkora hányada releváns az adott álláshirdetés követelményeihez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képest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CEDDCE6C-12D8-CDA6-6B55-A053E53BA401}"/>
              </a:ext>
            </a:extLst>
          </p:cNvPr>
          <p:cNvSpPr/>
          <p:nvPr/>
        </p:nvSpPr>
        <p:spPr>
          <a:xfrm>
            <a:off x="7164371" y="1024128"/>
            <a:ext cx="1726802" cy="6035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highlight>
                <a:srgbClr val="C0C0C0"/>
              </a:highlight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5AA607FD-29A4-5568-9087-92DAD7FC516A}"/>
              </a:ext>
            </a:extLst>
          </p:cNvPr>
          <p:cNvSpPr txBox="1"/>
          <p:nvPr/>
        </p:nvSpPr>
        <p:spPr>
          <a:xfrm>
            <a:off x="7209808" y="1060704"/>
            <a:ext cx="2160907" cy="479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+</a:t>
            </a:r>
            <a:r>
              <a:rPr lang="hu-HU" sz="2400" dirty="0"/>
              <a:t> </a:t>
            </a:r>
            <a:r>
              <a:rPr lang="hu-HU" dirty="0"/>
              <a:t>Egységtesztek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029200" cy="3063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megvalósítottam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16736"/>
            <a:ext cx="461772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körű blind recruitment platform, éles környezetbe is helyezhető architektúrával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Önellenőrző, retry-alapú LLM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anonimizáló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Álláshírdetések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létehozása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jelöltek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rangsorolása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Autómatizált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Lokális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adatvédelem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és API-limit-mentes működés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914400"/>
            <a:ext cx="3154680" cy="3063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5833872" y="1005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Továbbfejlesztési lehetőségek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33872" y="1417320"/>
            <a:ext cx="28346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Szintetikus teszt-CV generátor kontrollált bias-méréssel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Finomhangolt, domain-specifikus anonimizáló modell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formátumú önéletrajzok támogatása</a:t>
            </a:r>
            <a:endParaRPr lang="en-US" sz="11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Adminisztrációs panel statisztikákkal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41605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Köszönöm a figyelmet!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3287</TotalTime>
  <Words>899</Words>
  <Application>Microsoft Macintosh PowerPoint</Application>
  <PresentationFormat>Diavetítés a képernyőre (16:9 oldalarány)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Assistant – Önálló Laboratórium</dc:title>
  <dc:subject>PptxGenJS Presentation</dc:subject>
  <dc:creator>Barnabás Vaska</dc:creator>
  <cp:lastModifiedBy>Vaska Barnabás</cp:lastModifiedBy>
  <cp:revision>5</cp:revision>
  <dcterms:created xsi:type="dcterms:W3CDTF">2026-06-03T07:20:55Z</dcterms:created>
  <dcterms:modified xsi:type="dcterms:W3CDTF">2026-06-05T14:14:51Z</dcterms:modified>
</cp:coreProperties>
</file>